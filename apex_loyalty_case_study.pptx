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customXml" Target="../customXml/item1.xml"/><Relationship Id="rId2" Type="http://schemas.openxmlformats.org/officeDocument/2006/relationships/printerSettings" Target="printerSettings/printerSettings1.bin"/><Relationship Id="rId16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5" Type="http://schemas.openxmlformats.org/officeDocument/2006/relationships/theme" Target="theme/theme1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customXml" Target="../customXml/item3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4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343400"/>
            <a:ext cx="11823192" cy="2514600"/>
          </a:xfrm>
          <a:prstGeom prst="rect">
            <a:avLst/>
          </a:prstGeom>
          <a:solidFill>
            <a:srgbClr val="17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4754880" cy="329184"/>
          </a:xfrm>
          <a:prstGeom prst="rect">
            <a:avLst/>
          </a:prstGeom>
          <a:solidFill>
            <a:srgbClr val="06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303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A8A8"/>
                </a:solidFill>
              </a:rPr>
              <a:t>Case Study   |   Retail / E-Commerce   |   AI Agentification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When Every Customer Signal Exists,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A8A8"/>
                </a:solidFill>
              </a:rPr>
              <a:t>and Nobody Acts in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EB8"/>
                </a:solidFill>
              </a:rPr>
              <a:t>How a loyalty platform launch at Apex Retail exposed a retention crisis hidden across six isolated systems -- and how AI agents resolve it in minutes, not months.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401568"/>
            <a:ext cx="10607040" cy="2286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566160"/>
            <a:ext cx="1773936" cy="713232"/>
          </a:xfrm>
          <a:prstGeom prst="rect">
            <a:avLst/>
          </a:prstGeom>
          <a:solidFill>
            <a:srgbClr val="0D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62102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DA8A8"/>
                </a:solidFill>
              </a:rPr>
              <a:t>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8587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Salesforce + Shopify + Klaviyo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32304" y="3566160"/>
            <a:ext cx="1773936" cy="713232"/>
          </a:xfrm>
          <a:prstGeom prst="rect">
            <a:avLst/>
          </a:prstGeom>
          <a:solidFill>
            <a:srgbClr val="0D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42032" y="362102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DA8A8"/>
                </a:solidFill>
              </a:rPr>
              <a:t>INDUSTRY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38587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Retail / E-Commerce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24528" y="3566160"/>
            <a:ext cx="1773936" cy="713232"/>
          </a:xfrm>
          <a:prstGeom prst="rect">
            <a:avLst/>
          </a:prstGeom>
          <a:solidFill>
            <a:srgbClr val="0D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6" y="362102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DA8A8"/>
                </a:solidFill>
              </a:rPr>
              <a:t>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38587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2M+ active customers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16752" y="3566160"/>
            <a:ext cx="1773936" cy="713232"/>
          </a:xfrm>
          <a:prstGeom prst="rect">
            <a:avLst/>
          </a:prstGeom>
          <a:solidFill>
            <a:srgbClr val="0D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362102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DA8A8"/>
                </a:solidFill>
              </a:rPr>
              <a:t>SYSTEMS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8587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6 integrated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08976" y="3566160"/>
            <a:ext cx="1773936" cy="713232"/>
          </a:xfrm>
          <a:prstGeom prst="rect">
            <a:avLst/>
          </a:prstGeom>
          <a:solidFill>
            <a:srgbClr val="0D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18704" y="362102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DA8A8"/>
                </a:solidFill>
              </a:rPr>
              <a:t>BEFORE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18704" y="38587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28% annual churn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3566160"/>
            <a:ext cx="1773936" cy="713232"/>
          </a:xfrm>
          <a:prstGeom prst="rect">
            <a:avLst/>
          </a:prstGeom>
          <a:solidFill>
            <a:srgbClr val="0D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10928" y="362102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DA8A8"/>
                </a:solidFill>
              </a:rPr>
              <a:t>AFTER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38587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Target: &lt; 14% churn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480560"/>
            <a:ext cx="10607040" cy="1417320"/>
          </a:xfrm>
          <a:prstGeom prst="rect">
            <a:avLst/>
          </a:prstGeom>
          <a:solidFill>
            <a:srgbClr val="063A3A"/>
          </a:solidFill>
          <a:ln w="12700">
            <a:solidFill>
              <a:srgbClr val="04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4480560"/>
            <a:ext cx="64008" cy="1417320"/>
          </a:xfrm>
          <a:prstGeom prst="rect">
            <a:avLst/>
          </a:prstGeom>
          <a:solidFill>
            <a:srgbClr val="0D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45537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A8A8"/>
                </a:solidFill>
              </a:rPr>
              <a:t>The problem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48463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D8D8"/>
                </a:solidFill>
              </a:rPr>
              <a:t>Apex Retail launched a $2.1M loyalty platform to reduce churn. Eight weeks post-launch, churn remained at 28% -- 3x the industry benchmark. Six systems held the answer. None of them talked to each other.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5537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A8A8"/>
                </a:solidFill>
              </a:rPr>
              <a:t>The solution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8463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D8D8"/>
                </a:solidFill>
              </a:rPr>
              <a:t>AI agents cross-reference all six systems in real time, detect churn 14 days earlier, and fire personalised retention offers in under 2 minutes -- not 4-7 days.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61888" y="4572000"/>
            <a:ext cx="18288" cy="1143000"/>
          </a:xfrm>
          <a:prstGeom prst="rect">
            <a:avLst/>
          </a:prstGeom>
          <a:solidFill>
            <a:srgbClr val="1E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" y="6583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7A8A"/>
                </a:solidFill>
              </a:rPr>
              <a:t>Apex Retail -- Loyalty Platform Case Study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6583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A7A8A"/>
                </a:solidFill>
              </a:rPr>
              <a:t>Generated for curriculum 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4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46E6E"/>
                </a:solidFill>
              </a:rPr>
              <a:t>01 -- The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A2E"/>
                </a:solidFill>
              </a:rPr>
              <a:t>A loyalty platform launch that exposed a retention crisis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303520" cy="2194560"/>
          </a:xfrm>
          <a:prstGeom prst="rect">
            <a:avLst/>
          </a:prstGeom>
          <a:solidFill>
            <a:srgbClr val="D6E4FF"/>
          </a:solidFill>
          <a:ln w="9525">
            <a:solidFill>
              <a:srgbClr val="1A3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A8F"/>
                </a:solidFill>
              </a:rPr>
              <a:t>Customer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5074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445566"/>
                </a:solidFill>
              </a:rPr>
              <a:t>  Apex Retail -- mid-market e-commerce brand</a:t>
            </a:r>
          </a:p>
          <a:p>
            <a:pPr algn="l"/>
            <a:r>
              <a:rPr sz="1000">
                <a:solidFill>
                  <a:srgbClr val="445566"/>
                </a:solidFill>
              </a:rPr>
              <a:t>  2.1M registered customers, 680K active in last 90 days</a:t>
            </a:r>
          </a:p>
          <a:p>
            <a:pPr algn="l"/>
            <a:r>
              <a:rPr sz="1000">
                <a:solidFill>
                  <a:srgbClr val="445566"/>
                </a:solidFill>
              </a:rPr>
              <a:t>  28% annual churn rate -- 3x industry benchmark</a:t>
            </a:r>
          </a:p>
          <a:p>
            <a:pPr algn="l"/>
            <a:r>
              <a:rPr sz="1000">
                <a:solidFill>
                  <a:srgbClr val="445566"/>
                </a:solidFill>
              </a:rPr>
              <a:t>  Loyalty platform launched Q1 -- 8 weeks post-launch</a:t>
            </a:r>
          </a:p>
          <a:p>
            <a:pPr algn="l"/>
            <a:r>
              <a:rPr sz="1000">
                <a:solidFill>
                  <a:srgbClr val="445566"/>
                </a:solidFill>
              </a:rPr>
              <a:t>  Primary complaint: points are confusing, offers feel irrelevant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897880" y="1097280"/>
            <a:ext cx="5303520" cy="2194560"/>
          </a:xfrm>
          <a:prstGeom prst="rect">
            <a:avLst/>
          </a:prstGeom>
          <a:solidFill>
            <a:srgbClr val="FFE5E5"/>
          </a:solidFill>
          <a:ln w="9525">
            <a:solidFill>
              <a:srgbClr val="CC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1010"/>
                </a:solidFill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481328"/>
            <a:ext cx="5074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8A1010"/>
                </a:solidFill>
              </a:rPr>
              <a:t>  Revenue at risk -- 28% churn = $14.2M ARR lost annually</a:t>
            </a:r>
          </a:p>
          <a:p>
            <a:pPr algn="l"/>
            <a:r>
              <a:rPr sz="1000">
                <a:solidFill>
                  <a:srgbClr val="8A1010"/>
                </a:solidFill>
              </a:rPr>
              <a:t>  Loyalty platform cost $2.1M to build -- ROI unproven after 8 weeks</a:t>
            </a:r>
          </a:p>
          <a:p>
            <a:pPr algn="l"/>
            <a:r>
              <a:rPr sz="1000">
                <a:solidFill>
                  <a:srgbClr val="8A1010"/>
                </a:solidFill>
              </a:rPr>
              <a:t>  Internal confusion -- Marketing, CRM and Product disagree on root cause</a:t>
            </a:r>
          </a:p>
          <a:p>
            <a:pPr algn="l"/>
            <a:r>
              <a:rPr sz="1000">
                <a:solidFill>
                  <a:srgbClr val="8A1010"/>
                </a:solidFill>
              </a:rPr>
              <a:t>  CRM says engagement is up. Finance says revenue is down. Both are right.</a:t>
            </a:r>
          </a:p>
          <a:p>
            <a:pPr algn="l"/>
            <a:r>
              <a:rPr sz="1000">
                <a:solidFill>
                  <a:srgbClr val="8A1010"/>
                </a:solidFill>
              </a:rPr>
              <a:t>  Nobody has connected the six data sources to understand why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74720"/>
            <a:ext cx="10789920" cy="868680"/>
          </a:xfrm>
          <a:prstGeom prst="rect">
            <a:avLst/>
          </a:prstGeom>
          <a:solidFill>
            <a:srgbClr val="FFF8E1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474720"/>
            <a:ext cx="54864" cy="8686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56616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5200"/>
                </a:solidFill>
              </a:rPr>
              <a:t>"We launched the loyalty programme to keep customers. Eight weeks in, we are still losing them at the same rate. The data exists -- we just cannot see it all at once."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480560"/>
            <a:ext cx="10789920" cy="1600200"/>
          </a:xfrm>
          <a:prstGeom prst="rect">
            <a:avLst/>
          </a:prstGeom>
          <a:solidFill>
            <a:srgbClr val="F0F2F5"/>
          </a:solidFill>
          <a:ln w="9525">
            <a:solidFill>
              <a:srgbClr val="3A4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572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A7A8A"/>
                </a:solidFill>
              </a:rPr>
              <a:t>The core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864608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</a:rPr>
              <a:t>Retention truth is distributed across 6 independent systems. No single platform can answer: is this customer about to churn, and what offer would keep them? Teams spend 4-8 hours manually assembling context per at-risk segment. By the time a campaign launches, the window has already closed.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" y="6583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7A8A"/>
                </a:solidFill>
              </a:rPr>
              <a:t>Apex Retail -- Loyalty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583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A7A8A"/>
                </a:solidFill>
              </a:rPr>
              <a:t>01 -- Situation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4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46E6E"/>
                </a:solidFill>
              </a:rPr>
              <a:t>02 -- Source Artifacts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A2E"/>
                </a:solidFill>
              </a:rPr>
              <a:t>Six systems. Six truths. Zero reconciliation.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A7A8A"/>
                </a:solidFill>
              </a:rPr>
              <a:t>These are messy by design. Real retention crises do not arrive in clean packages.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98448"/>
          <a:ext cx="11521438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857"/>
                <a:gridCol w="2150668"/>
                <a:gridCol w="3994099"/>
                <a:gridCol w="4915814"/>
              </a:tblGrid>
              <a:tr h="69886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What it shows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Why it matters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</a:tr>
              <a:tr h="698862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46E6E"/>
                          </a:solidFill>
                        </a:rPr>
                        <a:t>#1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Salesforce CRM
Customer records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Account status active. Engagement score 72/100. Last purchase 47 days ago.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System of record for customer health. Treats last-purchase recency as the only churn signal. Does not factor loyalty activity.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698862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46E6E"/>
                          </a:solidFill>
                        </a:rPr>
                        <a:t>#2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Shopify
Transaction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Average order value dropped 34% over 6 months. 3 of last 5 orders used discount codes.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Shows revenue erosion pattern. Discount dependency is a churn precursor -- but this signal never reaches the loyalty engine.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46E6E"/>
                          </a:solidFill>
                        </a:rPr>
                        <a:t>#3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Loyalty Platform
(Yotpo)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Customer enrolled. 420 points accrued. Zero redemptions in 8 weeks since enrolment.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Points accrued but never redeemed = programme is not driving behaviour. Zero redemption is the strongest churn signal in the data.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698862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46E6E"/>
                          </a:solidFill>
                        </a:rPr>
                        <a:t>#4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Klaviyo
Email / SMS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14 campaign emails sent. Open rate 8.2%. Last email: points expiry warning (ignored).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Engagement collapse visible here first. Low open rate + ignored expiry warning = customer has mentally churned already.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46E6E"/>
                          </a:solidFill>
                        </a:rPr>
                        <a:t>#5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Support / Zendesk
Ticket history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2 tickets in 90 days: one points query (unresolved 6 days), one returns complaint.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Unresolved support contact before churn is a proven leading indicator. This signal is invisible to CRM and the loyalty engine.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69886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46E6E"/>
                          </a:solidFill>
                        </a:rPr>
                        <a:t>#6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Google Analytics
Behavioural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Sessions dropped 60% in 30 days. Last 3 sessions: homepage only, no product views.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Browsing intent collapse precedes transaction churn by 2-3 weeks. This is the earliest available signal -- and nobody is reading it.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7A8A"/>
                </a:solidFill>
              </a:rPr>
              <a:t>Apex Retail -- Loyalty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583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A7A8A"/>
                </a:solidFill>
              </a:rPr>
              <a:t>02 -- Source artifacts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4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46E6E"/>
                </a:solidFill>
              </a:rPr>
              <a:t>03 -- What the Artifacts Tell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A2E"/>
                </a:solidFill>
              </a:rPr>
              <a:t>The facts, cross-referenced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05840"/>
          <a:ext cx="621792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2544"/>
                <a:gridCol w="1865376"/>
              </a:tblGrid>
              <a:tr h="461356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Fact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Customer enrolled in loyalty platform 8 weeks ago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Yotpo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420 points accrued, zero redemptions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Yotpo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Average order value down 34% over 6 months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Shopify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3 of last 5 orders used discount codes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Shopify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14 emails sent -- open rate 8.2%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Klaviyo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Points expiry warning email ignored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Klaviyo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2 support tickets in 90 days -- 1 unresolved for 6 days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Zendesk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Web sessions down 60% in 30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Google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Last 3 sessions: homepage only, no product browsing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Google Analytics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6136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CRM engagement score: 72/100 -- flagged as healthy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Salesforce CRM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0" y="1005840"/>
            <a:ext cx="5029200" cy="2103120"/>
          </a:xfrm>
          <a:prstGeom prst="rect">
            <a:avLst/>
          </a:prstGeom>
          <a:solidFill>
            <a:srgbClr val="FFF0CC"/>
          </a:solidFill>
          <a:ln w="9525">
            <a:solidFill>
              <a:srgbClr val="8A5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951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5200"/>
                </a:solidFill>
              </a:rPr>
              <a:t>Key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1389888"/>
            <a:ext cx="4754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8A5200"/>
                </a:solidFill>
              </a:rPr>
              <a:t>  28% annual churn rate -- 3x benchmark</a:t>
            </a:r>
          </a:p>
          <a:p>
            <a:pPr algn="l"/>
            <a:r>
              <a:rPr sz="1000">
                <a:solidFill>
                  <a:srgbClr val="8A5200"/>
                </a:solidFill>
              </a:rPr>
              <a:t>  0% loyalty redemption rate at 8 weeks</a:t>
            </a:r>
          </a:p>
          <a:p>
            <a:pPr algn="l"/>
            <a:r>
              <a:rPr sz="1000">
                <a:solidFill>
                  <a:srgbClr val="8A5200"/>
                </a:solidFill>
              </a:rPr>
              <a:t>  34% AOV decline over 6 months</a:t>
            </a:r>
          </a:p>
          <a:p>
            <a:pPr algn="l"/>
            <a:r>
              <a:rPr sz="1000">
                <a:solidFill>
                  <a:srgbClr val="8A5200"/>
                </a:solidFill>
              </a:rPr>
              <a:t>  60% session drop in last 30 days</a:t>
            </a:r>
          </a:p>
          <a:p>
            <a:pPr algn="l"/>
            <a:r>
              <a:rPr sz="1000">
                <a:solidFill>
                  <a:srgbClr val="8A5200"/>
                </a:solidFill>
              </a:rPr>
              <a:t>  6 days average unresolved support time</a:t>
            </a:r>
          </a:p>
          <a:p>
            <a:pPr algn="l"/>
            <a:r>
              <a:rPr sz="1000">
                <a:solidFill>
                  <a:srgbClr val="8A5200"/>
                </a:solidFill>
              </a:rPr>
              <a:t>  $14.2M ARR lost to churn annually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3246120"/>
            <a:ext cx="5029200" cy="2834640"/>
          </a:xfrm>
          <a:prstGeom prst="rect">
            <a:avLst/>
          </a:prstGeom>
          <a:solidFill>
            <a:srgbClr val="D6E4FF"/>
          </a:solidFill>
          <a:ln w="9525">
            <a:solidFill>
              <a:srgbClr val="1A3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3337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A8F"/>
                </a:solidFill>
              </a:rPr>
              <a:t>What stands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3630168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1A3A8F"/>
                </a:solidFill>
              </a:rPr>
              <a:t>  GA session collapse precedes churn by 2-3 weeks -- earliest signal available</a:t>
            </a:r>
          </a:p>
          <a:p>
            <a:pPr algn="l"/>
            <a:r>
              <a:rPr sz="950">
                <a:solidFill>
                  <a:srgbClr val="1A3A8F"/>
                </a:solidFill>
              </a:rPr>
              <a:t>  Zero redemption at 8 weeks = loyalty programme not driving behaviour change</a:t>
            </a:r>
          </a:p>
          <a:p>
            <a:pPr algn="l"/>
            <a:r>
              <a:rPr sz="950">
                <a:solidFill>
                  <a:srgbClr val="1A3A8F"/>
                </a:solidFill>
              </a:rPr>
              <a:t>  CRM scores this customer as healthy (72/100) -- completely wrong signal</a:t>
            </a:r>
          </a:p>
          <a:p>
            <a:pPr algn="l"/>
            <a:r>
              <a:rPr sz="950">
                <a:solidFill>
                  <a:srgbClr val="1A3A8F"/>
                </a:solidFill>
              </a:rPr>
              <a:t>  Unresolved support ticket is a known churn precursor -- invisible to loyalty engine</a:t>
            </a:r>
          </a:p>
          <a:p>
            <a:pPr algn="l"/>
            <a:r>
              <a:rPr sz="950">
                <a:solidFill>
                  <a:srgbClr val="1A3A8F"/>
                </a:solidFill>
              </a:rPr>
              <a:t>  Discount dependency + AOV decline = margin erosion before churn</a:t>
            </a:r>
          </a:p>
          <a:p>
            <a:pPr algn="l"/>
            <a:r>
              <a:rPr sz="950">
                <a:solidFill>
                  <a:srgbClr val="1A3A8F"/>
                </a:solidFill>
              </a:rPr>
              <a:t>  All 6 signals point to imminent churn -- none of them talk to each other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6583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7A8A"/>
                </a:solidFill>
              </a:rPr>
              <a:t>Apex Retail -- Loyalty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583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A7A8A"/>
                </a:solidFill>
              </a:rPr>
              <a:t>03 -- Facts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4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46E6E"/>
                </a:solidFill>
              </a:rPr>
              <a:t>04 -- What Doesn't Add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A2E"/>
                </a:solidFill>
              </a:rPr>
              <a:t>Every system is correct. Together, they are telling the wrong story.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24128"/>
          <a:ext cx="11521439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6845"/>
                <a:gridCol w="4543666"/>
                <a:gridCol w="2920928"/>
              </a:tblGrid>
              <a:tr h="510540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Confirmed fact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Conflicting outcome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Systems in conflict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6B3C"/>
                          </a:solidFill>
                        </a:rPr>
                        <a:t>Customer enrolled and accruing loyalty points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CC4040"/>
                          </a:solidFill>
                        </a:rPr>
                        <a:t>Zero redemptions in 8 weeks -- programme not changing behaviour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Yotpo &lt;-&gt; Shopify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6B3C"/>
                          </a:solidFill>
                        </a:rPr>
                        <a:t>Web sessions dropped 60% -- browsing intent collapsed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CC4040"/>
                          </a:solidFill>
                        </a:rPr>
                        <a:t>CRM scores customer as healthy (72/100) -- no churn flag raised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Google Analytics &lt;-&gt; Salesforce CRM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6B3C"/>
                          </a:solidFill>
                        </a:rPr>
                        <a:t>Unresolved support ticket open for 6 days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CC4040"/>
                          </a:solidFill>
                        </a:rPr>
                        <a:t>No hold or offer triggered on the account -- loyalty engine unaware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Zendesk &lt;-&gt; Yotpo / Klaviyo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6B3C"/>
                          </a:solidFill>
                        </a:rPr>
                        <a:t>14 campaign emails sent in 8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CC4040"/>
                          </a:solidFill>
                        </a:rPr>
                        <a:t>8.2% open rate -- customer has mentally disengaged, campaigns continue unchanged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Klaviyo &lt;-&gt; Salesforce CRM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6B3C"/>
                          </a:solidFill>
                        </a:rPr>
                        <a:t>AOV declined 34% -- discount dependency increasing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CC4040"/>
                          </a:solidFill>
                        </a:rPr>
                        <a:t>Loyalty offer sent was a generic 10% voucher -- same trigger as non-discount customers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Shopify &lt;-&gt; Yotpo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4251960"/>
            <a:ext cx="5394960" cy="1920240"/>
          </a:xfrm>
          <a:prstGeom prst="rect">
            <a:avLst/>
          </a:prstGeom>
          <a:solidFill>
            <a:srgbClr val="FFE5E5"/>
          </a:solidFill>
          <a:ln w="9525">
            <a:solidFill>
              <a:srgbClr val="CC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343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1010"/>
                </a:solidFill>
              </a:rPr>
              <a:t>The big conflict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36008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8A1010"/>
                </a:solidFill>
              </a:rPr>
              <a:t>  CRM says the customer is healthy.</a:t>
            </a:r>
          </a:p>
          <a:p>
            <a:pPr algn="l"/>
            <a:r>
              <a:rPr sz="1000">
                <a:solidFill>
                  <a:srgbClr val="8A1010"/>
                </a:solidFill>
              </a:rPr>
              <a:t>  GA, Shopify, Zendesk and Klaviyo all say the customer is about to leave.</a:t>
            </a:r>
          </a:p>
          <a:p>
            <a:pPr algn="l"/>
            <a:r>
              <a:rPr sz="1000">
                <a:solidFill>
                  <a:srgbClr val="8A1010"/>
                </a:solidFill>
              </a:rPr>
              <a:t>  The loyalty platform is sending generic offers to someone who has already mentally churned.</a:t>
            </a:r>
          </a:p>
          <a:p>
            <a:pPr algn="l"/>
            <a:r>
              <a:rPr sz="1000">
                <a:solidFill>
                  <a:srgbClr val="8A1010"/>
                </a:solidFill>
              </a:rPr>
              <a:t>  The data exists to prevent this. Nobody has connected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4251960"/>
            <a:ext cx="5394960" cy="1920240"/>
          </a:xfrm>
          <a:prstGeom prst="rect">
            <a:avLst/>
          </a:prstGeom>
          <a:solidFill>
            <a:srgbClr val="D6E4FF"/>
          </a:solidFill>
          <a:ln w="9525">
            <a:solidFill>
              <a:srgbClr val="1A3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4343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A8F"/>
                </a:solidFill>
              </a:rPr>
              <a:t>The hypothesis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636008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3A8F"/>
                </a:solidFill>
              </a:rPr>
              <a:t>  GA session collapse + zero loyalty redemption + unresolved support ticket = a composite churn signal that is 4x more predictive than any single metric.</a:t>
            </a:r>
          </a:p>
          <a:p>
            <a:pPr algn="l"/>
            <a:r>
              <a:rPr sz="1000">
                <a:solidFill>
                  <a:srgbClr val="1A3A8F"/>
                </a:solidFill>
              </a:rPr>
              <a:t>  The loyalty platform was built to reward transactions. It was not built to read intent.</a:t>
            </a:r>
          </a:p>
          <a:p>
            <a:pPr algn="l"/>
            <a:r>
              <a:rPr sz="1000">
                <a:solidFill>
                  <a:srgbClr val="1A3A8F"/>
                </a:solidFill>
              </a:rPr>
              <a:t>  Connecting all 6 signals 14 days earlier would give enough time for a targeted intervention.</a:t>
            </a:r>
          </a:p>
          <a:p>
            <a:pPr algn="l"/>
            <a:r>
              <a:rPr sz="1000">
                <a:solidFill>
                  <a:srgbClr val="1A3A8F"/>
                </a:solidFill>
              </a:rPr>
              <a:t>  This is not a data problem. It is an integration and timing problem.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6583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7A8A"/>
                </a:solidFill>
              </a:rPr>
              <a:t>Apex Retail -- Loyalty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583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A7A8A"/>
                </a:solidFill>
              </a:rPr>
              <a:t>04 -- Conflicts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4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46E6E"/>
                </a:solidFill>
              </a:rPr>
              <a:t>05 -- How Retention Works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A2E"/>
                </a:solidFill>
              </a:rPr>
              <a:t>This is the process that needs to be reinvented.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024128"/>
            <a:ext cx="10972800" cy="2331720"/>
          </a:xfrm>
          <a:prstGeom prst="rect">
            <a:avLst/>
          </a:prstGeom>
          <a:solidFill>
            <a:srgbClr val="FFE5E5"/>
          </a:solidFill>
          <a:ln w="9525">
            <a:solidFill>
              <a:srgbClr val="CC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1155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1010"/>
                </a:solidFill>
              </a:rPr>
              <a:t>Current workflow (4-8 hours per at-risk segment, no audit trail)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417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A090"/>
                </a:solidFill>
              </a:rPr>
              <a:t>Analyst queries CRM for at-risk customers (1-2 hrs)
  -&gt;  Exports to spreadsheet, manually joins Shopify AOV data (1-2 hrs)
  -&gt;  Checks Klaviyo engagement manually per segment (30-60 min)
  -&gt;  Requests Zendesk ticket summary from support team (wait: 2-24 hrs)
  -&gt;  GA session data pulled separately by digital team (1-2 hrs)
  -&gt;  Loyalty team manually selects offer tier (30 min)
  -&gt;  Campaign brief written -- often contradicts CRM segment (1 hr)
  -&gt;  Campaign launches 4-7 days after churn signal first appeared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3520440"/>
            <a:ext cx="3566160" cy="2651760"/>
          </a:xfrm>
          <a:prstGeom prst="rect">
            <a:avLst/>
          </a:prstGeom>
          <a:solidFill>
            <a:srgbClr val="FFF0CC"/>
          </a:solidFill>
          <a:ln w="9525">
            <a:solidFill>
              <a:srgbClr val="8A5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36118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5200"/>
                </a:solidFill>
              </a:rPr>
              <a:t>Time sinks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3913632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5200"/>
                </a:solidFill>
              </a:rPr>
              <a:t>#1 Cross-system data assembly: 4-8 hrs
#2 Waiting for support summary: 2-24 hrs
#3 Re-running when segment changes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86784" y="3520440"/>
            <a:ext cx="3566160" cy="2651760"/>
          </a:xfrm>
          <a:prstGeom prst="rect">
            <a:avLst/>
          </a:prstGeom>
          <a:solidFill>
            <a:srgbClr val="FFE5E5"/>
          </a:solidFill>
          <a:ln w="9525">
            <a:solidFill>
              <a:srgbClr val="CC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23944" y="36118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1010"/>
                </a:solidFill>
              </a:rPr>
              <a:t>Failure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23944" y="3913632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1010"/>
                </a:solidFill>
              </a:rPr>
              <a:t>No composite churn score
No single source of truth
Offers not personalised to signal
Campaigns launch too late
No feedback loop to loyalty engine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17536" y="3520440"/>
            <a:ext cx="3566160" cy="2651760"/>
          </a:xfrm>
          <a:prstGeom prst="rect">
            <a:avLst/>
          </a:prstGeom>
          <a:solidFill>
            <a:srgbClr val="F0F2F5"/>
          </a:solidFill>
          <a:ln w="9525">
            <a:solidFill>
              <a:srgbClr val="3A4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54696" y="36118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A4A5A"/>
                </a:solidFill>
              </a:rPr>
              <a:t>Total cost / segment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54696" y="3913632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4A5A"/>
                </a:solidFill>
              </a:rPr>
              <a:t>4-8 hrs human time per run
3-7 days elapsed
No DRI (owner)
No audit trail
Customer already churned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" y="6583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7A8A"/>
                </a:solidFill>
              </a:rPr>
              <a:t>Apex Retail -- Loyalty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583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A7A8A"/>
                </a:solidFill>
              </a:rPr>
              <a:t>05 -- Current state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4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46E6E"/>
                </a:solidFill>
              </a:rPr>
              <a:t>06 -- Before vs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A2E"/>
                </a:solidFill>
              </a:rPr>
              <a:t>Same customer. Same signals. Different outcomes.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24128"/>
            <a:ext cx="5394960" cy="1508760"/>
          </a:xfrm>
          <a:prstGeom prst="rect">
            <a:avLst/>
          </a:prstGeom>
          <a:solidFill>
            <a:srgbClr val="FFE5E5"/>
          </a:solidFill>
          <a:ln w="9525">
            <a:solidFill>
              <a:srgbClr val="CC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1010"/>
                </a:solidFill>
              </a:rPr>
              <a:t>Before -- Manual retention 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09090"/>
                </a:solidFill>
              </a:rPr>
              <a:t>"Customer at risk. Last purchase 47 days. Sending 10% voucher. Engagement score 72 -- moderate risk."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4040"/>
                </a:solidFill>
              </a:rPr>
              <a:t>No sources  --  No composite score  --  Wrong offer  --  Took 4-8 hrs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024128"/>
            <a:ext cx="5394960" cy="1508760"/>
          </a:xfrm>
          <a:prstGeom prst="rect">
            <a:avLst/>
          </a:prstGeom>
          <a:solidFill>
            <a:srgbClr val="D6F5E3"/>
          </a:solidFill>
          <a:ln w="9525">
            <a:solidFill>
              <a:srgbClr val="1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1155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3C"/>
                </a:solidFill>
              </a:rPr>
              <a:t>After -- Agent-generated retention 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389888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07040"/>
                </a:solidFill>
              </a:rPr>
              <a:t>"CHURN RISK: HIGH (composite score 91/100). Sessions -60% [GA]. Zero redemptions 8 weeks [Yotpo]. Unresolved ticket 6 days [Zendesk]. AOV -34% [Shopify]. Recommended action: personal outreach + double-points weekend + free returns upgrade."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30428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6B3C"/>
                </a:solidFill>
              </a:rPr>
              <a:t>Cited  --  Composite score  --  Personalised offer  --  Generated in 45 sec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43200"/>
            <a:ext cx="5394960" cy="3429000"/>
          </a:xfrm>
          <a:prstGeom prst="rect">
            <a:avLst/>
          </a:prstGeom>
          <a:solidFill>
            <a:srgbClr val="FFE5E5"/>
          </a:solidFill>
          <a:ln w="9525">
            <a:solidFill>
              <a:srgbClr val="CC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743200"/>
            <a:ext cx="5394960" cy="3429000"/>
          </a:xfrm>
          <a:prstGeom prst="rect">
            <a:avLst/>
          </a:prstGeom>
          <a:solidFill>
            <a:srgbClr val="D6F5E3"/>
          </a:solidFill>
          <a:ln w="9525">
            <a:solidFill>
              <a:srgbClr val="1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8346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1010"/>
                </a:solidFill>
              </a:rPr>
              <a:t>Manual -- avg 4-7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8346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3C"/>
                </a:solidFill>
              </a:rPr>
              <a:t>Agentic -- avg &lt; 2 minutes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0896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8A1010"/>
                </a:solidFill>
              </a:rPr>
              <a:t>  1.  Analyst queries CRM -- exports to spreadsheet</a:t>
            </a:r>
          </a:p>
          <a:p>
            <a:pPr algn="l"/>
            <a:r>
              <a:rPr sz="950">
                <a:solidFill>
                  <a:srgbClr val="8A1010"/>
                </a:solidFill>
              </a:rPr>
              <a:t>  2.  Manually joins Shopify AOV data</a:t>
            </a:r>
          </a:p>
          <a:p>
            <a:pPr algn="l"/>
            <a:r>
              <a:rPr sz="950">
                <a:solidFill>
                  <a:srgbClr val="8A1010"/>
                </a:solidFill>
              </a:rPr>
              <a:t>  3.  Checks Klaviyo engagement per segment</a:t>
            </a:r>
          </a:p>
          <a:p>
            <a:pPr algn="l"/>
            <a:r>
              <a:rPr sz="950">
                <a:solidFill>
                  <a:srgbClr val="8A1010"/>
                </a:solidFill>
              </a:rPr>
              <a:t>  4.  Requests Zendesk summary -- wait 2-24 hrs</a:t>
            </a:r>
          </a:p>
          <a:p>
            <a:pPr algn="l"/>
            <a:r>
              <a:rPr sz="950">
                <a:solidFill>
                  <a:srgbClr val="8A1010"/>
                </a:solidFill>
              </a:rPr>
              <a:t>  5.  GA session data pulled by separate team</a:t>
            </a:r>
          </a:p>
          <a:p>
            <a:pPr algn="l"/>
            <a:r>
              <a:rPr sz="950">
                <a:solidFill>
                  <a:srgbClr val="8A1010"/>
                </a:solidFill>
              </a:rPr>
              <a:t>  6.  Loyalty team selects generic offer tier</a:t>
            </a:r>
          </a:p>
          <a:p>
            <a:pPr algn="l"/>
            <a:r>
              <a:rPr sz="950">
                <a:solidFill>
                  <a:srgbClr val="8A1010"/>
                </a:solidFill>
              </a:rPr>
              <a:t>  7.  Campaign brief written -- often inconsistent</a:t>
            </a:r>
          </a:p>
          <a:p>
            <a:pPr algn="l"/>
            <a:r>
              <a:rPr sz="950">
                <a:solidFill>
                  <a:srgbClr val="8A1010"/>
                </a:solidFill>
              </a:rPr>
              <a:t>  8.  Campaign launches 4-7 days after signal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10896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1A6B3C"/>
                </a:solidFill>
              </a:rPr>
              <a:t>  1.  [AGENT]  GA session collapse triggers workflow</a:t>
            </a:r>
          </a:p>
          <a:p>
            <a:pPr algn="l"/>
            <a:r>
              <a:rPr sz="950">
                <a:solidFill>
                  <a:srgbClr val="1A6B3C"/>
                </a:solidFill>
              </a:rPr>
              <a:t>  2.  [AGENT]  Queries all 6 systems -- builds composite score</a:t>
            </a:r>
          </a:p>
          <a:p>
            <a:pPr algn="l"/>
            <a:r>
              <a:rPr sz="950">
                <a:solidFill>
                  <a:srgbClr val="1A6B3C"/>
                </a:solidFill>
              </a:rPr>
              <a:t>  3.  [AGENT]  Classifies churn risk: HIGH (91/100)</a:t>
            </a:r>
          </a:p>
          <a:p>
            <a:pPr algn="l"/>
            <a:r>
              <a:rPr sz="950">
                <a:solidFill>
                  <a:srgbClr val="1A6B3C"/>
                </a:solidFill>
              </a:rPr>
              <a:t>  4.  [AGENT]  Matches offer to signal type + customer tier</a:t>
            </a:r>
          </a:p>
          <a:p>
            <a:pPr algn="l"/>
            <a:r>
              <a:rPr sz="950">
                <a:solidFill>
                  <a:srgbClr val="1A6B3C"/>
                </a:solidFill>
              </a:rPr>
              <a:t>  5.  [AGENT]  Generates personalised retention brief</a:t>
            </a:r>
          </a:p>
          <a:p>
            <a:pPr algn="l"/>
            <a:r>
              <a:rPr sz="950">
                <a:solidFill>
                  <a:srgbClr val="1A6B3C"/>
                </a:solidFill>
              </a:rPr>
              <a:t>  6.  [AGENT]  Drafts 3-channel outreach (email/SMS/push)</a:t>
            </a:r>
          </a:p>
          <a:p>
            <a:pPr algn="l"/>
            <a:r>
              <a:rPr sz="950">
                <a:solidFill>
                  <a:srgbClr val="1A6B3C"/>
                </a:solidFill>
              </a:rPr>
              <a:t>  7.  [HUMAN]  CRM manager approves or overrides -- 1 click</a:t>
            </a:r>
          </a:p>
          <a:p>
            <a:pPr algn="l"/>
            <a:r>
              <a:rPr sz="950">
                <a:solidFill>
                  <a:srgbClr val="1A6B3C"/>
                </a:solidFill>
              </a:rPr>
              <a:t>  8.  Campaign live within 2 minutes of signal detection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" y="6583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7A8A"/>
                </a:solidFill>
              </a:rPr>
              <a:t>Apex Retail -- Loyalty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583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A7A8A"/>
                </a:solidFill>
              </a:rPr>
              <a:t>06 -- Before vs After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4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46E6E"/>
                </a:solidFill>
              </a:rPr>
              <a:t>07 --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A2E"/>
                </a:solidFill>
              </a:rPr>
              <a:t>KPIs: where the business case lives.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24128"/>
            <a:ext cx="5394960" cy="5120640"/>
          </a:xfrm>
          <a:prstGeom prst="rect">
            <a:avLst/>
          </a:prstGeom>
          <a:solidFill>
            <a:srgbClr val="1A0808"/>
          </a:solidFill>
          <a:ln w="9525">
            <a:solidFill>
              <a:srgbClr val="5A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9A9A"/>
                </a:solidFill>
              </a:rPr>
              <a:t>Current state -- before agentification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44752"/>
            <a:ext cx="5394960" cy="9144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E9E9E"/>
                </a:solidFill>
              </a:rPr>
              <a:t>Annual customer churn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9A9A"/>
                </a:solidFill>
              </a:rPr>
              <a:t>28%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39112"/>
            <a:ext cx="5394960" cy="9144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07568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E9E9E"/>
                </a:solidFill>
              </a:rPr>
              <a:t>Time to launch retention campaign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9A9A"/>
                </a:solidFill>
              </a:rPr>
              <a:t>4-7 days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33472"/>
            <a:ext cx="5394960" cy="9144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67004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E9E9E"/>
                </a:solidFill>
              </a:rPr>
              <a:t>Loyalty redemption rate (8 wks)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880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9A9A"/>
                </a:solidFill>
              </a:rPr>
              <a:t>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27832"/>
            <a:ext cx="5394960" cy="9144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26440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E9E9E"/>
                </a:solidFill>
              </a:rPr>
              <a:t>Offer personalisation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474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9A9A"/>
                </a:solidFill>
              </a:rPr>
              <a:t>~8%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822192"/>
            <a:ext cx="5394960" cy="9144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85876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E9E9E"/>
                </a:solidFill>
              </a:rPr>
              <a:t>Composite churn score available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069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9A9A"/>
                </a:solidFill>
              </a:rPr>
              <a:t>No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416552"/>
            <a:ext cx="5394960" cy="9144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45312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E9E9E"/>
                </a:solidFill>
              </a:rPr>
              <a:t>Revenue saved per intervention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663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9A9A"/>
                </a:solidFill>
              </a:rPr>
              <a:t>$0 tracked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010912"/>
            <a:ext cx="5394960" cy="9144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04748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E9E9E"/>
                </a:solidFill>
              </a:rPr>
              <a:t>Analyst hours per segment run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257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9A9A"/>
                </a:solidFill>
              </a:rPr>
              <a:t>4-8 hrs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1024128"/>
            <a:ext cx="5394960" cy="5120640"/>
          </a:xfrm>
          <a:prstGeom prst="rect">
            <a:avLst/>
          </a:prstGeom>
          <a:solidFill>
            <a:srgbClr val="041408"/>
          </a:solidFill>
          <a:ln w="9525">
            <a:solidFill>
              <a:srgbClr val="1E5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11155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5D6A7"/>
                </a:solidFill>
              </a:rPr>
              <a:t>Target state -- after agentification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1444752"/>
            <a:ext cx="5394960" cy="9144"/>
          </a:xfrm>
          <a:prstGeom prst="rect">
            <a:avLst/>
          </a:prstGeom>
          <a:solidFill>
            <a:srgbClr val="0A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148132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A8A7A"/>
                </a:solidFill>
              </a:rPr>
              <a:t>Annual customer churn 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5D6A7"/>
                </a:solidFill>
              </a:rPr>
              <a:t>&lt; 14%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2039112"/>
            <a:ext cx="5394960" cy="9144"/>
          </a:xfrm>
          <a:prstGeom prst="rect">
            <a:avLst/>
          </a:prstGeom>
          <a:solidFill>
            <a:srgbClr val="0A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207568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A8A7A"/>
                </a:solidFill>
              </a:rPr>
              <a:t>Time to launch retention campaign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2286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5D6A7"/>
                </a:solidFill>
              </a:rPr>
              <a:t>&lt; 2 min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60" y="2633472"/>
            <a:ext cx="5394960" cy="9144"/>
          </a:xfrm>
          <a:prstGeom prst="rect">
            <a:avLst/>
          </a:prstGeom>
          <a:solidFill>
            <a:srgbClr val="0A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267004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A8A7A"/>
                </a:solidFill>
              </a:rPr>
              <a:t>Loyalty redemption rate (90 days)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2880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5D6A7"/>
                </a:solidFill>
              </a:rPr>
              <a:t>&gt; 35%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0760" y="3227832"/>
            <a:ext cx="5394960" cy="9144"/>
          </a:xfrm>
          <a:prstGeom prst="rect">
            <a:avLst/>
          </a:prstGeom>
          <a:solidFill>
            <a:srgbClr val="0A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326440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A8A7A"/>
                </a:solidFill>
              </a:rPr>
              <a:t>Offer personalisation rate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3474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5D6A7"/>
                </a:solidFill>
              </a:rPr>
              <a:t>&gt; 85%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0760" y="3822192"/>
            <a:ext cx="5394960" cy="9144"/>
          </a:xfrm>
          <a:prstGeom prst="rect">
            <a:avLst/>
          </a:prstGeom>
          <a:solidFill>
            <a:srgbClr val="0A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385876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A8A7A"/>
                </a:solidFill>
              </a:rPr>
              <a:t>Composite churn score available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4069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5D6A7"/>
                </a:solidFill>
              </a:rPr>
              <a:t>Real-time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60" y="4416552"/>
            <a:ext cx="5394960" cy="9144"/>
          </a:xfrm>
          <a:prstGeom prst="rect">
            <a:avLst/>
          </a:prstGeom>
          <a:solidFill>
            <a:srgbClr val="0A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445312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A8A7A"/>
                </a:solidFill>
              </a:rPr>
              <a:t>Revenue saved per intervention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4663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5D6A7"/>
                </a:solidFill>
              </a:rPr>
              <a:t>$180-$420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80760" y="5010912"/>
            <a:ext cx="5394960" cy="9144"/>
          </a:xfrm>
          <a:prstGeom prst="rect">
            <a:avLst/>
          </a:prstGeom>
          <a:solidFill>
            <a:srgbClr val="0A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0" y="504748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A8A7A"/>
                </a:solidFill>
              </a:rPr>
              <a:t>Analyst hours per segment run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5257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5D6A7"/>
                </a:solidFill>
              </a:rPr>
              <a:t>&lt; 5 min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8600" y="6583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7A8A"/>
                </a:solidFill>
              </a:rPr>
              <a:t>Apex Retail -- Loyalty Platform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6583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A7A8A"/>
                </a:solidFill>
              </a:rPr>
              <a:t>07 -- Business impact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4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46E6E"/>
                </a:solidFill>
              </a:rPr>
              <a:t>08 -- 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A2E"/>
                </a:solidFill>
              </a:rPr>
              <a:t>Not aspirational. Measured.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24128"/>
          <a:ext cx="7772398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4442"/>
                <a:gridCol w="1840831"/>
                <a:gridCol w="2045368"/>
                <a:gridCol w="1431757"/>
              </a:tblGrid>
              <a:tr h="461356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KPI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Before (manual)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After (agentic)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Improvement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Annual churn rate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CC4040"/>
                          </a:solidFill>
                        </a:rPr>
                        <a:t>28%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6B3C"/>
                          </a:solidFill>
                        </a:rPr>
                        <a:t>&gt; 14%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8A5200"/>
                          </a:solidFill>
                        </a:rPr>
                        <a:t>down 50%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Campaign launch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CC4040"/>
                          </a:solidFill>
                        </a:rPr>
                        <a:t>4-7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6B3C"/>
                          </a:solidFill>
                        </a:rPr>
                        <a:t>&lt; 2 minutes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8A5200"/>
                          </a:solidFill>
                        </a:rPr>
                        <a:t>down 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Loyalty redemption rate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CC4040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6B3C"/>
                          </a:solidFill>
                        </a:rPr>
                        <a:t>&gt; 35% (target)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8A5200"/>
                          </a:solidFill>
                        </a:rPr>
                        <a:t>up structural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Offer personalisation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CC4040"/>
                          </a:solidFill>
                        </a:rP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6B3C"/>
                          </a:solidFill>
                        </a:rPr>
                        <a:t>&gt; 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8A5200"/>
                          </a:solidFill>
                        </a:rPr>
                        <a:t>up 10x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Analyst hours / segment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CC4040"/>
                          </a:solidFill>
                        </a:rPr>
                        <a:t>4-8 hrs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6B3C"/>
                          </a:solidFill>
                        </a:rPr>
                        <a:t>&lt; 5 min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8A5200"/>
                          </a:solidFill>
                        </a:rPr>
                        <a:t>down 97%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Churn signal lead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CC4040"/>
                          </a:solidFill>
                        </a:rPr>
                        <a:t>0 days (reactive)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6B3C"/>
                          </a:solidFill>
                        </a:rPr>
                        <a:t>14 days (proactive)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8A5200"/>
                          </a:solidFill>
                        </a:rPr>
                        <a:t>14 days gained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Audit trail completeness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CC4040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6B3C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8A5200"/>
                          </a:solidFill>
                        </a:rPr>
                        <a:t>structural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Revenue saved / intervention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CC4040"/>
                          </a:solidFill>
                        </a:rPr>
                        <a:t>$0 tracked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6B3C"/>
                          </a:solidFill>
                        </a:rPr>
                        <a:t>$180-$420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8A5200"/>
                          </a:solidFill>
                        </a:rPr>
                        <a:t>attributable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Annual revenue protected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CC4040"/>
                          </a:solidFill>
                        </a:rPr>
                        <a:t>$0 tracked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6B3C"/>
                          </a:solidFill>
                        </a:rPr>
                        <a:t>&gt; $7M (target)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8A5200"/>
                          </a:solidFill>
                        </a:rPr>
                        <a:t>new metric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46136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F1A2E"/>
                          </a:solidFill>
                        </a:rPr>
                        <a:t>Customer CSAT on loyalty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CC4040"/>
                          </a:solidFill>
                        </a:rPr>
                        <a:t>54 /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6B3C"/>
                          </a:solidFill>
                        </a:rPr>
                        <a:t>80+ / 100 (target)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8A5200"/>
                          </a:solidFill>
                        </a:rPr>
                        <a:t>up 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412480" y="1024128"/>
            <a:ext cx="3429000" cy="2286000"/>
          </a:xfrm>
          <a:prstGeom prst="rect">
            <a:avLst/>
          </a:prstGeom>
          <a:solidFill>
            <a:srgbClr val="D6F5E3"/>
          </a:solidFill>
          <a:ln w="9525">
            <a:solidFill>
              <a:srgbClr val="1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1155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6B3C"/>
                </a:solidFill>
              </a:rPr>
              <a:t>Value levers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417320"/>
            <a:ext cx="31546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1A6B3C"/>
                </a:solidFill>
              </a:rPr>
              <a:t>  Cost: 4-8 hrs to 5 min per segment run (at 20 segments/week = 80-160 hrs saved/week)</a:t>
            </a:r>
          </a:p>
          <a:p>
            <a:pPr algn="l"/>
            <a:r>
              <a:rPr sz="950">
                <a:solidFill>
                  <a:srgbClr val="1A6B3C"/>
                </a:solidFill>
              </a:rPr>
              <a:t>  Revenue: 14-day early signal window = intervention before mental churn locks in</a:t>
            </a:r>
          </a:p>
          <a:p>
            <a:pPr algn="l"/>
            <a:r>
              <a:rPr sz="950">
                <a:solidFill>
                  <a:srgbClr val="1A6B3C"/>
                </a:solidFill>
              </a:rPr>
              <a:t>  Loyalty ROI: $2.1M platform spend becomes measurable when redemption and retention are linked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3456432"/>
            <a:ext cx="3429000" cy="2606040"/>
          </a:xfrm>
          <a:prstGeom prst="rect">
            <a:avLst/>
          </a:prstGeom>
          <a:solidFill>
            <a:srgbClr val="F0F2F5"/>
          </a:solidFill>
          <a:ln w="9525">
            <a:solidFill>
              <a:srgbClr val="3A4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35478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7A8A"/>
                </a:solidFill>
              </a:rPr>
              <a:t>What makes this credible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840480"/>
            <a:ext cx="3154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445566"/>
                </a:solidFill>
              </a:rPr>
              <a:t>  Numbers derived from timestamped system events, not estimates</a:t>
            </a:r>
          </a:p>
          <a:p>
            <a:pPr algn="l"/>
            <a:r>
              <a:rPr sz="950">
                <a:solidFill>
                  <a:srgbClr val="445566"/>
                </a:solidFill>
              </a:rPr>
              <a:t>  Before/after uses the same customer cohort and same 6 systems</a:t>
            </a:r>
          </a:p>
          <a:p>
            <a:pPr algn="l"/>
            <a:r>
              <a:rPr sz="950">
                <a:solidFill>
                  <a:srgbClr val="445566"/>
                </a:solidFill>
              </a:rPr>
              <a:t>  Every claim cites a specific source system</a:t>
            </a:r>
          </a:p>
          <a:p>
            <a:pPr algn="l"/>
            <a:r>
              <a:rPr sz="950">
                <a:solidFill>
                  <a:srgbClr val="445566"/>
                </a:solidFill>
              </a:rPr>
              <a:t>  Scope is honest: composite score validated on historical churn cohort</a:t>
            </a:r>
          </a:p>
          <a:p>
            <a:pPr algn="l"/>
            <a:r>
              <a:rPr sz="950">
                <a:solidFill>
                  <a:srgbClr val="445566"/>
                </a:solidFill>
              </a:rPr>
              <a:t>  14-day lead time validated against 6-month transaction history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6583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7A8A"/>
                </a:solidFill>
              </a:rPr>
              <a:t>Apex Retail -- Loyalty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583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A7A8A"/>
                </a:solidFill>
              </a:rPr>
              <a:t>08 -- Evidence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4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46E6E"/>
                </a:solidFill>
              </a:rPr>
              <a:t>09 -- What Happens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A2E"/>
                </a:solidFill>
              </a:rPr>
              <a:t>30 / 60 / 90 day roadmap.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24128"/>
            <a:ext cx="3520440" cy="2331720"/>
          </a:xfrm>
          <a:prstGeom prst="rect">
            <a:avLst/>
          </a:prstGeom>
          <a:solidFill>
            <a:srgbClr val="D6E4FF"/>
          </a:solidFill>
          <a:ln w="9525">
            <a:solidFill>
              <a:srgbClr val="1A3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A8F"/>
                </a:solidFill>
              </a:rPr>
              <a:t>30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566"/>
                </a:solidFill>
              </a:rPr>
              <a:t>Connect real-time GA + Shopify event streams to composite score engine
Test with top 10,000 at-risk customers in parallel with manual process
Measure: does &lt; 2 min hold with real integrations?
DRI + CRM analyst identified as pilot users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799" y="1024128"/>
            <a:ext cx="3520440" cy="2331720"/>
          </a:xfrm>
          <a:prstGeom prst="rect">
            <a:avLst/>
          </a:prstGeom>
          <a:solidFill>
            <a:srgbClr val="D6E4FF"/>
          </a:solidFill>
          <a:ln w="9525">
            <a:solidFill>
              <a:srgbClr val="1A3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59" y="11155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A8F"/>
                </a:solidFill>
              </a:rPr>
              <a:t>60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59" y="14173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566"/>
                </a:solidFill>
              </a:rPr>
              <a:t>Add Zendesk ticket signal to composite score
Expand to 5 retention segments + loyalty tier triggers
Add A/B test framework: agent offer vs. control
Measure: redemption rate lift, churn delta, revenue attributed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38" y="1024128"/>
            <a:ext cx="3520440" cy="2331720"/>
          </a:xfrm>
          <a:prstGeom prst="rect">
            <a:avLst/>
          </a:prstGeom>
          <a:solidFill>
            <a:srgbClr val="D6E4FF"/>
          </a:solidFill>
          <a:ln w="9525">
            <a:solidFill>
              <a:srgbClr val="1A3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998" y="11155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A8F"/>
                </a:solidFill>
              </a:rPr>
              <a:t>90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998" y="14173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566"/>
                </a:solidFill>
              </a:rPr>
              <a:t>Production deployment across all 2.1M customers
Loyalty engine rule update: zero-redemption at 4 weeks triggers auto-intervention
Role-tailored outputs (CRM / loyalty / finance / exec)
Measure: full ROI model -- $2.1M platform cost vs. revenue protected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520440"/>
            <a:ext cx="5394960" cy="2606040"/>
          </a:xfrm>
          <a:prstGeom prst="rect">
            <a:avLst/>
          </a:prstGeom>
          <a:solidFill>
            <a:srgbClr val="FFF0CC"/>
          </a:solidFill>
          <a:ln w="9525">
            <a:solidFill>
              <a:srgbClr val="8A5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611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5200"/>
                </a:solidFill>
              </a:rPr>
              <a:t>Adoption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3192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5200"/>
                </a:solidFill>
              </a:rPr>
              <a:t>Who runs it:  CRM analyst / loyalty ops (day-to-day) + DRI (high-value segments)
Who approves:  DRI reviews composite score brief before any outreach fires
Biggest barrier:  Marketing team may distrust automated offer selection
Mitigation:  Side-by-side pilot (agent offer vs. manual) for 4 weeks
Trust mechanism:  Confidence signals + human override logging on every recommendation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3520440"/>
            <a:ext cx="5394960" cy="2606040"/>
          </a:xfrm>
          <a:prstGeom prst="rect">
            <a:avLst/>
          </a:prstGeom>
          <a:solidFill>
            <a:srgbClr val="D6F5E3"/>
          </a:solidFill>
          <a:ln w="9525">
            <a:solidFill>
              <a:srgbClr val="1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3611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6B3C"/>
                </a:solidFill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93192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6B3C"/>
                </a:solidFill>
              </a:rPr>
              <a:t>  Annual churn rate below 14% within 12 months</a:t>
            </a:r>
          </a:p>
          <a:p>
            <a:pPr algn="l"/>
            <a:r>
              <a:rPr sz="1000">
                <a:solidFill>
                  <a:srgbClr val="1A6B3C"/>
                </a:solidFill>
              </a:rPr>
              <a:t>  Loyalty redemption rate above 35% at 90 days</a:t>
            </a:r>
          </a:p>
          <a:p>
            <a:pPr algn="l"/>
            <a:r>
              <a:rPr sz="1000">
                <a:solidFill>
                  <a:srgbClr val="1A6B3C"/>
                </a:solidFill>
              </a:rPr>
              <a:t>  Campaign launch time stays below 2 minutes with real integrations</a:t>
            </a:r>
          </a:p>
          <a:p>
            <a:pPr algn="l"/>
            <a:r>
              <a:rPr sz="1000">
                <a:solidFill>
                  <a:srgbClr val="1A6B3C"/>
                </a:solidFill>
              </a:rPr>
              <a:t>  Offer personalisation rate above 85% across all segments</a:t>
            </a:r>
          </a:p>
          <a:p>
            <a:pPr algn="l"/>
            <a:r>
              <a:rPr sz="1000">
                <a:solidFill>
                  <a:srgbClr val="1A6B3C"/>
                </a:solidFill>
              </a:rPr>
              <a:t>  Revenue attribution model live -- $2.1M platform ROI proven</a:t>
            </a:r>
          </a:p>
          <a:p>
            <a:pPr algn="l"/>
            <a:r>
              <a:rPr sz="1000">
                <a:solidFill>
                  <a:srgbClr val="1A6B3C"/>
                </a:solidFill>
              </a:rPr>
              <a:t>  CRM analyst trust score &gt; 7/10 after pilot</a:t>
            </a:r>
          </a:p>
          <a:p>
            <a:pPr algn="l"/>
            <a:r>
              <a:rPr sz="1000">
                <a:solidFill>
                  <a:srgbClr val="1A6B3C"/>
                </a:solidFill>
              </a:rPr>
              <a:t>  Audit trail coverage stays 100% on every retention action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6263640"/>
            <a:ext cx="11521440" cy="384048"/>
          </a:xfrm>
          <a:prstGeom prst="rect">
            <a:avLst/>
          </a:prstGeom>
          <a:solidFill>
            <a:srgbClr val="F0F2F5"/>
          </a:solidFill>
          <a:ln w="9525">
            <a:solidFill>
              <a:srgbClr val="3A4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29107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A7A8A"/>
                </a:solidFill>
              </a:rPr>
              <a:t>"The loyalty platform was not the problem. The absence of a unified signal was. The pilot proved we can detect churn 14 days earlier. The next 90 days prove we can act on it at scale."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" y="6583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7A8A"/>
                </a:solidFill>
              </a:rPr>
              <a:t>Apex Retail -- Loyalty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583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A7A8A"/>
                </a:solidFill>
              </a:rPr>
              <a:t>09 -- What happens next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EE80410F232644A3AC22E5157F5853" ma:contentTypeVersion="11" ma:contentTypeDescription="Create a new document." ma:contentTypeScope="" ma:versionID="0a7addbe65a670e200932756feb8df5d">
  <xsd:schema xmlns:xsd="http://www.w3.org/2001/XMLSchema" xmlns:xs="http://www.w3.org/2001/XMLSchema" xmlns:p="http://schemas.microsoft.com/office/2006/metadata/properties" xmlns:ns2="ca501099-7115-4e53-8373-15de897dd9ae" xmlns:ns3="47cc3b2d-e67b-4d53-9bf0-f4921b7a25fb" targetNamespace="http://schemas.microsoft.com/office/2006/metadata/properties" ma:root="true" ma:fieldsID="bc41a9085de880080e438aadad5a16e6" ns2:_="" ns3:_="">
    <xsd:import namespace="ca501099-7115-4e53-8373-15de897dd9ae"/>
    <xsd:import namespace="47cc3b2d-e67b-4d53-9bf0-f4921b7a25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501099-7115-4e53-8373-15de897dd9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cc3b2d-e67b-4d53-9bf0-f4921b7a25f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ef4e0d57-9547-4512-8f12-c5f6ce0bf67f}" ma:internalName="TaxCatchAll" ma:showField="CatchAllData" ma:web="47cc3b2d-e67b-4d53-9bf0-f4921b7a25f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a501099-7115-4e53-8373-15de897dd9ae">
      <Terms xmlns="http://schemas.microsoft.com/office/infopath/2007/PartnerControls"/>
    </lcf76f155ced4ddcb4097134ff3c332f>
    <TaxCatchAll xmlns="47cc3b2d-e67b-4d53-9bf0-f4921b7a25fb" xsi:nil="true"/>
  </documentManagement>
</p:properties>
</file>

<file path=customXml/itemProps1.xml><?xml version="1.0" encoding="utf-8"?>
<ds:datastoreItem xmlns:ds="http://schemas.openxmlformats.org/officeDocument/2006/customXml" ds:itemID="{97A20C01-9611-4C1B-BC03-0609901E0775}"/>
</file>

<file path=customXml/itemProps2.xml><?xml version="1.0" encoding="utf-8"?>
<ds:datastoreItem xmlns:ds="http://schemas.openxmlformats.org/officeDocument/2006/customXml" ds:itemID="{23F532A0-AB1D-442F-AAED-BC389FBE12B9}"/>
</file>

<file path=customXml/itemProps3.xml><?xml version="1.0" encoding="utf-8"?>
<ds:datastoreItem xmlns:ds="http://schemas.openxmlformats.org/officeDocument/2006/customXml" ds:itemID="{1F5EABEF-7E2E-4982-9222-909DDE52C6C7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0x01010053EE80410F232644A3AC22E5157F5853</vt:lpwstr>
  </property>
</Properties>
</file>